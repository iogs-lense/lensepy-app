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4" d="100"/>
          <a:sy n="34" d="100"/>
        </p:scale>
        <p:origin x="16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815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09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15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35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0853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027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9067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944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990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2686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61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F15EF-4840-4A36-8AEE-0A321C0B69C4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79423-C44B-4535-89F1-C1306B3CFB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059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73B597A4-6812-158F-7CE1-E99A38BCD822}"/>
              </a:ext>
            </a:extLst>
          </p:cNvPr>
          <p:cNvSpPr/>
          <p:nvPr/>
        </p:nvSpPr>
        <p:spPr>
          <a:xfrm>
            <a:off x="1577768" y="19163939"/>
            <a:ext cx="7337572" cy="859697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de la surface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83E355F3-67E8-87CA-61A4-A7DE63E8F5E0}"/>
              </a:ext>
            </a:extLst>
          </p:cNvPr>
          <p:cNvSpPr txBox="1"/>
          <p:nvPr/>
        </p:nvSpPr>
        <p:spPr>
          <a:xfrm>
            <a:off x="7601809" y="975392"/>
            <a:ext cx="20597107" cy="1785219"/>
          </a:xfrm>
          <a:prstGeom prst="rect">
            <a:avLst/>
          </a:prstGeom>
          <a:noFill/>
        </p:spPr>
        <p:txBody>
          <a:bodyPr wrap="square" lIns="304910" tIns="152457" rIns="304910" bIns="152457" rtlCol="0">
            <a:spAutoFit/>
          </a:bodyPr>
          <a:lstStyle/>
          <a:p>
            <a:pPr algn="ctr"/>
            <a:r>
              <a:rPr lang="fr-FR" sz="9600" dirty="0">
                <a:solidFill>
                  <a:srgbClr val="0A3250"/>
                </a:solidFill>
                <a:latin typeface="Interstate-RegularCondensed"/>
                <a:cs typeface="Interstate-RegularCondensed"/>
              </a:rPr>
              <a:t>Interféromètre ZYGO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6712889D-DC7E-F51B-5D2B-1A882353471F}"/>
              </a:ext>
            </a:extLst>
          </p:cNvPr>
          <p:cNvSpPr txBox="1"/>
          <p:nvPr/>
        </p:nvSpPr>
        <p:spPr>
          <a:xfrm>
            <a:off x="26493216" y="5088469"/>
            <a:ext cx="615775" cy="1246610"/>
          </a:xfrm>
          <a:prstGeom prst="rect">
            <a:avLst/>
          </a:prstGeom>
          <a:noFill/>
        </p:spPr>
        <p:txBody>
          <a:bodyPr wrap="none" lIns="304910" tIns="152457" rIns="304910" bIns="152457" rtlCol="0">
            <a:spAutoFit/>
          </a:bodyPr>
          <a:lstStyle/>
          <a:p>
            <a:endParaRPr lang="fr-FR" dirty="0"/>
          </a:p>
        </p:txBody>
      </p:sp>
      <p:sp>
        <p:nvSpPr>
          <p:cNvPr id="80" name="AutoShape 2">
            <a:extLst>
              <a:ext uri="{FF2B5EF4-FFF2-40B4-BE49-F238E27FC236}">
                <a16:creationId xmlns:a16="http://schemas.microsoft.com/office/drawing/2014/main" id="{0B321A33-8512-2411-6059-B5D26EB745CD}"/>
              </a:ext>
            </a:extLst>
          </p:cNvPr>
          <p:cNvSpPr/>
          <p:nvPr/>
        </p:nvSpPr>
        <p:spPr>
          <a:xfrm flipV="1">
            <a:off x="795896" y="4018172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Box 55">
            <a:extLst>
              <a:ext uri="{FF2B5EF4-FFF2-40B4-BE49-F238E27FC236}">
                <a16:creationId xmlns:a16="http://schemas.microsoft.com/office/drawing/2014/main" id="{B04C4528-78CC-E163-2E81-B22B06CB9717}"/>
              </a:ext>
            </a:extLst>
          </p:cNvPr>
          <p:cNvSpPr txBox="1"/>
          <p:nvPr/>
        </p:nvSpPr>
        <p:spPr>
          <a:xfrm>
            <a:off x="11340463" y="3244219"/>
            <a:ext cx="13568893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2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Contrôles interférométriques / Aberrations</a:t>
            </a:r>
          </a:p>
        </p:txBody>
      </p:sp>
      <p:sp>
        <p:nvSpPr>
          <p:cNvPr id="82" name="Rectangle : coins arrondis 81">
            <a:extLst>
              <a:ext uri="{FF2B5EF4-FFF2-40B4-BE49-F238E27FC236}">
                <a16:creationId xmlns:a16="http://schemas.microsoft.com/office/drawing/2014/main" id="{1201AE90-653A-36BE-2610-17F978D092E1}"/>
              </a:ext>
            </a:extLst>
          </p:cNvPr>
          <p:cNvSpPr/>
          <p:nvPr/>
        </p:nvSpPr>
        <p:spPr>
          <a:xfrm>
            <a:off x="1656600" y="8599782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Acquisition des images</a:t>
            </a:r>
          </a:p>
        </p:txBody>
      </p:sp>
      <p:sp>
        <p:nvSpPr>
          <p:cNvPr id="83" name="Rectangle : coins arrondis 82">
            <a:extLst>
              <a:ext uri="{FF2B5EF4-FFF2-40B4-BE49-F238E27FC236}">
                <a16:creationId xmlns:a16="http://schemas.microsoft.com/office/drawing/2014/main" id="{BC05B86B-7DB0-4C12-0F7E-E35CE4391806}"/>
              </a:ext>
            </a:extLst>
          </p:cNvPr>
          <p:cNvSpPr/>
          <p:nvPr/>
        </p:nvSpPr>
        <p:spPr>
          <a:xfrm>
            <a:off x="1656228" y="17012048"/>
            <a:ext cx="7337572" cy="911659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Traitement de la phase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91827541-5D6D-0132-DFBD-4454BD1E8D53}"/>
              </a:ext>
            </a:extLst>
          </p:cNvPr>
          <p:cNvSpPr txBox="1"/>
          <p:nvPr/>
        </p:nvSpPr>
        <p:spPr>
          <a:xfrm>
            <a:off x="1319455" y="17989238"/>
            <a:ext cx="8011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9540" lvl="1" algn="ctr"/>
            <a:r>
              <a:rPr lang="en-US" sz="2800" b="1" dirty="0">
                <a:solidFill>
                  <a:srgbClr val="8096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Algorithme de Hariharan / Correction (tilt)</a:t>
            </a:r>
          </a:p>
        </p:txBody>
      </p:sp>
      <p:grpSp>
        <p:nvGrpSpPr>
          <p:cNvPr id="85" name="Group 12">
            <a:extLst>
              <a:ext uri="{FF2B5EF4-FFF2-40B4-BE49-F238E27FC236}">
                <a16:creationId xmlns:a16="http://schemas.microsoft.com/office/drawing/2014/main" id="{F7B7FAF7-66F7-12FE-8948-EF272DDB90E9}"/>
              </a:ext>
            </a:extLst>
          </p:cNvPr>
          <p:cNvGrpSpPr/>
          <p:nvPr/>
        </p:nvGrpSpPr>
        <p:grpSpPr>
          <a:xfrm rot="5400000">
            <a:off x="5063403" y="17807375"/>
            <a:ext cx="523220" cy="1920607"/>
            <a:chOff x="0" y="0"/>
            <a:chExt cx="406400" cy="406400"/>
          </a:xfrm>
        </p:grpSpPr>
        <p:sp>
          <p:nvSpPr>
            <p:cNvPr id="86" name="Freeform 13">
              <a:extLst>
                <a:ext uri="{FF2B5EF4-FFF2-40B4-BE49-F238E27FC236}">
                  <a16:creationId xmlns:a16="http://schemas.microsoft.com/office/drawing/2014/main" id="{02CBED90-D5FF-ED57-AF5A-A1A673641CAA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87" name="TextBox 14">
              <a:extLst>
                <a:ext uri="{FF2B5EF4-FFF2-40B4-BE49-F238E27FC236}">
                  <a16:creationId xmlns:a16="http://schemas.microsoft.com/office/drawing/2014/main" id="{03D6B0B3-58BA-00C1-F682-5BC71CEE7232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9" name="Group 12">
            <a:extLst>
              <a:ext uri="{FF2B5EF4-FFF2-40B4-BE49-F238E27FC236}">
                <a16:creationId xmlns:a16="http://schemas.microsoft.com/office/drawing/2014/main" id="{10648039-8527-58F3-B576-72C181723A69}"/>
              </a:ext>
            </a:extLst>
          </p:cNvPr>
          <p:cNvGrpSpPr/>
          <p:nvPr/>
        </p:nvGrpSpPr>
        <p:grpSpPr>
          <a:xfrm rot="5400000">
            <a:off x="5063402" y="8962426"/>
            <a:ext cx="523220" cy="1920607"/>
            <a:chOff x="0" y="0"/>
            <a:chExt cx="406400" cy="406400"/>
          </a:xfrm>
        </p:grpSpPr>
        <p:sp>
          <p:nvSpPr>
            <p:cNvPr id="100" name="Freeform 13">
              <a:extLst>
                <a:ext uri="{FF2B5EF4-FFF2-40B4-BE49-F238E27FC236}">
                  <a16:creationId xmlns:a16="http://schemas.microsoft.com/office/drawing/2014/main" id="{A70378C6-D7FC-9F48-5CAD-768666B1B53D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01" name="TextBox 14">
              <a:extLst>
                <a:ext uri="{FF2B5EF4-FFF2-40B4-BE49-F238E27FC236}">
                  <a16:creationId xmlns:a16="http://schemas.microsoft.com/office/drawing/2014/main" id="{412FC2B3-7DC4-5D02-7201-815120789729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2" name="Rectangle : coins arrondis 101">
            <a:extLst>
              <a:ext uri="{FF2B5EF4-FFF2-40B4-BE49-F238E27FC236}">
                <a16:creationId xmlns:a16="http://schemas.microsoft.com/office/drawing/2014/main" id="{309899CF-FDCD-682B-F72D-1357F2FB3A6A}"/>
              </a:ext>
            </a:extLst>
          </p:cNvPr>
          <p:cNvSpPr/>
          <p:nvPr/>
        </p:nvSpPr>
        <p:spPr>
          <a:xfrm>
            <a:off x="1656226" y="5063898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Alignement</a:t>
            </a:r>
          </a:p>
        </p:txBody>
      </p:sp>
      <p:grpSp>
        <p:nvGrpSpPr>
          <p:cNvPr id="103" name="Group 12">
            <a:extLst>
              <a:ext uri="{FF2B5EF4-FFF2-40B4-BE49-F238E27FC236}">
                <a16:creationId xmlns:a16="http://schemas.microsoft.com/office/drawing/2014/main" id="{044B2EBF-76F8-A915-8336-2590DF4AA36E}"/>
              </a:ext>
            </a:extLst>
          </p:cNvPr>
          <p:cNvGrpSpPr/>
          <p:nvPr/>
        </p:nvGrpSpPr>
        <p:grpSpPr>
          <a:xfrm rot="5400000">
            <a:off x="5104945" y="5397126"/>
            <a:ext cx="523220" cy="1920607"/>
            <a:chOff x="0" y="0"/>
            <a:chExt cx="406400" cy="406400"/>
          </a:xfrm>
        </p:grpSpPr>
        <p:sp>
          <p:nvSpPr>
            <p:cNvPr id="104" name="Freeform 13">
              <a:extLst>
                <a:ext uri="{FF2B5EF4-FFF2-40B4-BE49-F238E27FC236}">
                  <a16:creationId xmlns:a16="http://schemas.microsoft.com/office/drawing/2014/main" id="{B535579F-10C0-8D31-0443-BD6D08D4D2A2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05" name="TextBox 14">
              <a:extLst>
                <a:ext uri="{FF2B5EF4-FFF2-40B4-BE49-F238E27FC236}">
                  <a16:creationId xmlns:a16="http://schemas.microsoft.com/office/drawing/2014/main" id="{32B9F80B-E30E-71E4-C21B-220E4CE86435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6" name="Rectangle : coins arrondis 105">
            <a:extLst>
              <a:ext uri="{FF2B5EF4-FFF2-40B4-BE49-F238E27FC236}">
                <a16:creationId xmlns:a16="http://schemas.microsoft.com/office/drawing/2014/main" id="{6CA0868B-4FBC-6C0C-19CE-E8621DE65B38}"/>
              </a:ext>
            </a:extLst>
          </p:cNvPr>
          <p:cNvSpPr/>
          <p:nvPr/>
        </p:nvSpPr>
        <p:spPr>
          <a:xfrm>
            <a:off x="9589407" y="5063898"/>
            <a:ext cx="10135567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Autocollimation   (miroir plan)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CF9ACEE9-9B1B-73FC-2478-AE4E066D64E4}"/>
              </a:ext>
            </a:extLst>
          </p:cNvPr>
          <p:cNvSpPr txBox="1"/>
          <p:nvPr/>
        </p:nvSpPr>
        <p:spPr>
          <a:xfrm>
            <a:off x="1656226" y="4121641"/>
            <a:ext cx="7337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Etapes / TP 1A et 2A</a:t>
            </a:r>
            <a:endParaRPr lang="fr-FR" sz="4800" dirty="0"/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F8562236-619A-94DB-2A7C-475C433E9155}"/>
              </a:ext>
            </a:extLst>
          </p:cNvPr>
          <p:cNvSpPr txBox="1"/>
          <p:nvPr/>
        </p:nvSpPr>
        <p:spPr>
          <a:xfrm>
            <a:off x="21821590" y="4191922"/>
            <a:ext cx="65300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Interface / Mode</a:t>
            </a:r>
            <a:endParaRPr lang="fr-FR" sz="4800" dirty="0"/>
          </a:p>
        </p:txBody>
      </p:sp>
      <p:sp>
        <p:nvSpPr>
          <p:cNvPr id="109" name="Rectangle : coins arrondis 108">
            <a:extLst>
              <a:ext uri="{FF2B5EF4-FFF2-40B4-BE49-F238E27FC236}">
                <a16:creationId xmlns:a16="http://schemas.microsoft.com/office/drawing/2014/main" id="{D174936C-02A4-566B-0CC6-21FF90BED364}"/>
              </a:ext>
            </a:extLst>
          </p:cNvPr>
          <p:cNvSpPr/>
          <p:nvPr/>
        </p:nvSpPr>
        <p:spPr>
          <a:xfrm>
            <a:off x="20127935" y="5068527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110" name="Rectangle : coins arrondis 109">
            <a:extLst>
              <a:ext uri="{FF2B5EF4-FFF2-40B4-BE49-F238E27FC236}">
                <a16:creationId xmlns:a16="http://schemas.microsoft.com/office/drawing/2014/main" id="{27B9AE75-78A3-DEF6-DBD9-43422F13EE85}"/>
              </a:ext>
            </a:extLst>
          </p:cNvPr>
          <p:cNvSpPr/>
          <p:nvPr/>
        </p:nvSpPr>
        <p:spPr>
          <a:xfrm>
            <a:off x="17364838" y="5171993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ALIGN</a:t>
            </a:r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AF366DE7-31FB-3E18-ABBC-8332016C9B77}"/>
              </a:ext>
            </a:extLst>
          </p:cNvPr>
          <p:cNvSpPr/>
          <p:nvPr/>
        </p:nvSpPr>
        <p:spPr>
          <a:xfrm>
            <a:off x="9589408" y="8548717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5 images / Décalage Piezo  </a:t>
            </a:r>
            <a:r>
              <a:rPr lang="el-GR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/4 </a:t>
            </a:r>
          </a:p>
        </p:txBody>
      </p:sp>
      <p:sp>
        <p:nvSpPr>
          <p:cNvPr id="112" name="Rectangle : coins arrondis 111">
            <a:extLst>
              <a:ext uri="{FF2B5EF4-FFF2-40B4-BE49-F238E27FC236}">
                <a16:creationId xmlns:a16="http://schemas.microsoft.com/office/drawing/2014/main" id="{1BAB71E8-7813-0D3C-CCFA-DDD541EE2E0E}"/>
              </a:ext>
            </a:extLst>
          </p:cNvPr>
          <p:cNvSpPr/>
          <p:nvPr/>
        </p:nvSpPr>
        <p:spPr>
          <a:xfrm>
            <a:off x="17364838" y="8678684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VIEW</a:t>
            </a:r>
          </a:p>
        </p:txBody>
      </p:sp>
      <p:sp>
        <p:nvSpPr>
          <p:cNvPr id="113" name="Rectangle : coins arrondis 112">
            <a:extLst>
              <a:ext uri="{FF2B5EF4-FFF2-40B4-BE49-F238E27FC236}">
                <a16:creationId xmlns:a16="http://schemas.microsoft.com/office/drawing/2014/main" id="{7BFDD5F2-93FA-ABD0-C048-0E5A0858AE80}"/>
              </a:ext>
            </a:extLst>
          </p:cNvPr>
          <p:cNvSpPr/>
          <p:nvPr/>
        </p:nvSpPr>
        <p:spPr>
          <a:xfrm>
            <a:off x="23310575" y="5074786"/>
            <a:ext cx="296333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Camera</a:t>
            </a:r>
          </a:p>
        </p:txBody>
      </p:sp>
      <p:sp>
        <p:nvSpPr>
          <p:cNvPr id="114" name="Rectangle : coins arrondis 113">
            <a:extLst>
              <a:ext uri="{FF2B5EF4-FFF2-40B4-BE49-F238E27FC236}">
                <a16:creationId xmlns:a16="http://schemas.microsoft.com/office/drawing/2014/main" id="{F414594F-DD87-C9DD-62BC-4C3179F33DF3}"/>
              </a:ext>
            </a:extLst>
          </p:cNvPr>
          <p:cNvSpPr/>
          <p:nvPr/>
        </p:nvSpPr>
        <p:spPr>
          <a:xfrm>
            <a:off x="26493216" y="5083555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Zoom</a:t>
            </a:r>
          </a:p>
        </p:txBody>
      </p:sp>
      <p:sp>
        <p:nvSpPr>
          <p:cNvPr id="115" name="Rectangle : coins arrondis 114">
            <a:extLst>
              <a:ext uri="{FF2B5EF4-FFF2-40B4-BE49-F238E27FC236}">
                <a16:creationId xmlns:a16="http://schemas.microsoft.com/office/drawing/2014/main" id="{B4CFCFAB-A686-9A8E-8AFD-D372CECF530E}"/>
              </a:ext>
            </a:extLst>
          </p:cNvPr>
          <p:cNvSpPr/>
          <p:nvPr/>
        </p:nvSpPr>
        <p:spPr>
          <a:xfrm>
            <a:off x="20166876" y="8518150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116" name="Rectangle : coins arrondis 115">
            <a:extLst>
              <a:ext uri="{FF2B5EF4-FFF2-40B4-BE49-F238E27FC236}">
                <a16:creationId xmlns:a16="http://schemas.microsoft.com/office/drawing/2014/main" id="{B868B3F4-D6AC-FB7E-78C9-DE392A590AA4}"/>
              </a:ext>
            </a:extLst>
          </p:cNvPr>
          <p:cNvSpPr/>
          <p:nvPr/>
        </p:nvSpPr>
        <p:spPr>
          <a:xfrm>
            <a:off x="1659900" y="6779321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Paramétrage caméra</a:t>
            </a:r>
          </a:p>
        </p:txBody>
      </p:sp>
      <p:grpSp>
        <p:nvGrpSpPr>
          <p:cNvPr id="117" name="Group 12">
            <a:extLst>
              <a:ext uri="{FF2B5EF4-FFF2-40B4-BE49-F238E27FC236}">
                <a16:creationId xmlns:a16="http://schemas.microsoft.com/office/drawing/2014/main" id="{01467A53-8438-8514-DAF4-06FE3DD72FAF}"/>
              </a:ext>
            </a:extLst>
          </p:cNvPr>
          <p:cNvGrpSpPr/>
          <p:nvPr/>
        </p:nvGrpSpPr>
        <p:grpSpPr>
          <a:xfrm rot="5400000">
            <a:off x="5063401" y="7113227"/>
            <a:ext cx="523220" cy="1920607"/>
            <a:chOff x="0" y="0"/>
            <a:chExt cx="406400" cy="406400"/>
          </a:xfrm>
        </p:grpSpPr>
        <p:sp>
          <p:nvSpPr>
            <p:cNvPr id="118" name="Freeform 13">
              <a:extLst>
                <a:ext uri="{FF2B5EF4-FFF2-40B4-BE49-F238E27FC236}">
                  <a16:creationId xmlns:a16="http://schemas.microsoft.com/office/drawing/2014/main" id="{B6EAC296-D60B-9531-1702-1D2B9A871DB6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9" name="TextBox 14">
              <a:extLst>
                <a:ext uri="{FF2B5EF4-FFF2-40B4-BE49-F238E27FC236}">
                  <a16:creationId xmlns:a16="http://schemas.microsoft.com/office/drawing/2014/main" id="{DDA7B129-4B7C-CC65-39D3-BF1CF0216324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40199160-0B40-CD0F-C002-BC5185C7D218}"/>
              </a:ext>
            </a:extLst>
          </p:cNvPr>
          <p:cNvSpPr/>
          <p:nvPr/>
        </p:nvSpPr>
        <p:spPr>
          <a:xfrm>
            <a:off x="9589412" y="6779321"/>
            <a:ext cx="10135562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Temps d’exposition</a:t>
            </a:r>
          </a:p>
        </p:txBody>
      </p:sp>
      <p:sp>
        <p:nvSpPr>
          <p:cNvPr id="121" name="Rectangle : coins arrondis 120">
            <a:extLst>
              <a:ext uri="{FF2B5EF4-FFF2-40B4-BE49-F238E27FC236}">
                <a16:creationId xmlns:a16="http://schemas.microsoft.com/office/drawing/2014/main" id="{830E2894-A3A3-B915-D6D2-F884CD830AE5}"/>
              </a:ext>
            </a:extLst>
          </p:cNvPr>
          <p:cNvSpPr/>
          <p:nvPr/>
        </p:nvSpPr>
        <p:spPr>
          <a:xfrm>
            <a:off x="17351012" y="6889831"/>
            <a:ext cx="2236508" cy="66060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VIEW</a:t>
            </a:r>
          </a:p>
        </p:txBody>
      </p:sp>
      <p:sp>
        <p:nvSpPr>
          <p:cNvPr id="122" name="Rectangle : coins arrondis 121">
            <a:extLst>
              <a:ext uri="{FF2B5EF4-FFF2-40B4-BE49-F238E27FC236}">
                <a16:creationId xmlns:a16="http://schemas.microsoft.com/office/drawing/2014/main" id="{45870C4A-3217-7285-6FC5-EE1D7F0087BC}"/>
              </a:ext>
            </a:extLst>
          </p:cNvPr>
          <p:cNvSpPr/>
          <p:nvPr/>
        </p:nvSpPr>
        <p:spPr>
          <a:xfrm>
            <a:off x="20166876" y="6753038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Acquisition</a:t>
            </a:r>
          </a:p>
        </p:txBody>
      </p:sp>
      <p:sp>
        <p:nvSpPr>
          <p:cNvPr id="123" name="Rectangle : coins arrondis 122">
            <a:extLst>
              <a:ext uri="{FF2B5EF4-FFF2-40B4-BE49-F238E27FC236}">
                <a16:creationId xmlns:a16="http://schemas.microsoft.com/office/drawing/2014/main" id="{4A522A06-EDBE-4473-A189-76498F1AEFEF}"/>
              </a:ext>
            </a:extLst>
          </p:cNvPr>
          <p:cNvSpPr/>
          <p:nvPr/>
        </p:nvSpPr>
        <p:spPr>
          <a:xfrm>
            <a:off x="23349516" y="6759297"/>
            <a:ext cx="296333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Camera</a:t>
            </a:r>
          </a:p>
        </p:txBody>
      </p:sp>
      <p:sp>
        <p:nvSpPr>
          <p:cNvPr id="124" name="Rectangle : coins arrondis 123">
            <a:extLst>
              <a:ext uri="{FF2B5EF4-FFF2-40B4-BE49-F238E27FC236}">
                <a16:creationId xmlns:a16="http://schemas.microsoft.com/office/drawing/2014/main" id="{B47E849F-B5F3-8561-20FD-F06D97366077}"/>
              </a:ext>
            </a:extLst>
          </p:cNvPr>
          <p:cNvSpPr/>
          <p:nvPr/>
        </p:nvSpPr>
        <p:spPr>
          <a:xfrm>
            <a:off x="26493216" y="6739837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Exposition</a:t>
            </a:r>
          </a:p>
        </p:txBody>
      </p:sp>
      <p:sp>
        <p:nvSpPr>
          <p:cNvPr id="125" name="Rectangle : coins arrondis 124">
            <a:extLst>
              <a:ext uri="{FF2B5EF4-FFF2-40B4-BE49-F238E27FC236}">
                <a16:creationId xmlns:a16="http://schemas.microsoft.com/office/drawing/2014/main" id="{5E6C4FB4-F69F-8A75-54D4-7B39D31D6498}"/>
              </a:ext>
            </a:extLst>
          </p:cNvPr>
          <p:cNvSpPr/>
          <p:nvPr/>
        </p:nvSpPr>
        <p:spPr>
          <a:xfrm>
            <a:off x="1611327" y="15324187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Ajout de masques</a:t>
            </a:r>
          </a:p>
        </p:txBody>
      </p:sp>
      <p:grpSp>
        <p:nvGrpSpPr>
          <p:cNvPr id="126" name="Group 12">
            <a:extLst>
              <a:ext uri="{FF2B5EF4-FFF2-40B4-BE49-F238E27FC236}">
                <a16:creationId xmlns:a16="http://schemas.microsoft.com/office/drawing/2014/main" id="{26093D85-632E-D37E-24D9-64E56FD6F8C0}"/>
              </a:ext>
            </a:extLst>
          </p:cNvPr>
          <p:cNvGrpSpPr/>
          <p:nvPr/>
        </p:nvGrpSpPr>
        <p:grpSpPr>
          <a:xfrm rot="5400000">
            <a:off x="5014828" y="15658093"/>
            <a:ext cx="523220" cy="1920607"/>
            <a:chOff x="0" y="0"/>
            <a:chExt cx="406400" cy="406400"/>
          </a:xfrm>
        </p:grpSpPr>
        <p:sp>
          <p:nvSpPr>
            <p:cNvPr id="127" name="Freeform 13">
              <a:extLst>
                <a:ext uri="{FF2B5EF4-FFF2-40B4-BE49-F238E27FC236}">
                  <a16:creationId xmlns:a16="http://schemas.microsoft.com/office/drawing/2014/main" id="{69053804-12AC-CEB3-C223-CA0AF8924ADB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28" name="TextBox 14">
              <a:extLst>
                <a:ext uri="{FF2B5EF4-FFF2-40B4-BE49-F238E27FC236}">
                  <a16:creationId xmlns:a16="http://schemas.microsoft.com/office/drawing/2014/main" id="{15F923DD-85C7-347E-A0FB-DDA2900967FC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9" name="Rectangle : coins arrondis 128">
            <a:extLst>
              <a:ext uri="{FF2B5EF4-FFF2-40B4-BE49-F238E27FC236}">
                <a16:creationId xmlns:a16="http://schemas.microsoft.com/office/drawing/2014/main" id="{5E044BCC-FA2F-1141-05E2-697928B49E45}"/>
              </a:ext>
            </a:extLst>
          </p:cNvPr>
          <p:cNvSpPr/>
          <p:nvPr/>
        </p:nvSpPr>
        <p:spPr>
          <a:xfrm>
            <a:off x="9550467" y="15324187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Création d’un masque circulaire</a:t>
            </a:r>
          </a:p>
        </p:txBody>
      </p:sp>
      <p:sp>
        <p:nvSpPr>
          <p:cNvPr id="130" name="Rectangle : coins arrondis 129">
            <a:extLst>
              <a:ext uri="{FF2B5EF4-FFF2-40B4-BE49-F238E27FC236}">
                <a16:creationId xmlns:a16="http://schemas.microsoft.com/office/drawing/2014/main" id="{C2A90BE2-FDF7-37AA-D7F1-C3607E904F1E}"/>
              </a:ext>
            </a:extLst>
          </p:cNvPr>
          <p:cNvSpPr/>
          <p:nvPr/>
        </p:nvSpPr>
        <p:spPr>
          <a:xfrm>
            <a:off x="20127935" y="15293620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Masques</a:t>
            </a:r>
          </a:p>
        </p:txBody>
      </p:sp>
      <p:sp>
        <p:nvSpPr>
          <p:cNvPr id="131" name="Rectangle : coins arrondis 130">
            <a:extLst>
              <a:ext uri="{FF2B5EF4-FFF2-40B4-BE49-F238E27FC236}">
                <a16:creationId xmlns:a16="http://schemas.microsoft.com/office/drawing/2014/main" id="{FF7E5146-72ED-9502-88C7-17B899EF87D8}"/>
              </a:ext>
            </a:extLst>
          </p:cNvPr>
          <p:cNvSpPr/>
          <p:nvPr/>
        </p:nvSpPr>
        <p:spPr>
          <a:xfrm>
            <a:off x="23349516" y="8513053"/>
            <a:ext cx="538020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Simple Acquisition</a:t>
            </a:r>
          </a:p>
        </p:txBody>
      </p:sp>
      <p:sp>
        <p:nvSpPr>
          <p:cNvPr id="132" name="Rectangle : coins arrondis 131">
            <a:extLst>
              <a:ext uri="{FF2B5EF4-FFF2-40B4-BE49-F238E27FC236}">
                <a16:creationId xmlns:a16="http://schemas.microsoft.com/office/drawing/2014/main" id="{D6EB5F0F-6478-1648-3020-EC58B8DCFF51}"/>
              </a:ext>
            </a:extLst>
          </p:cNvPr>
          <p:cNvSpPr/>
          <p:nvPr/>
        </p:nvSpPr>
        <p:spPr>
          <a:xfrm>
            <a:off x="26493216" y="9505016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Lancer</a:t>
            </a:r>
          </a:p>
        </p:txBody>
      </p:sp>
      <p:sp>
        <p:nvSpPr>
          <p:cNvPr id="133" name="Rectangle : coins arrondis 132">
            <a:extLst>
              <a:ext uri="{FF2B5EF4-FFF2-40B4-BE49-F238E27FC236}">
                <a16:creationId xmlns:a16="http://schemas.microsoft.com/office/drawing/2014/main" id="{D0F943E4-0CB7-9B75-2839-54DA17346316}"/>
              </a:ext>
            </a:extLst>
          </p:cNvPr>
          <p:cNvSpPr/>
          <p:nvPr/>
        </p:nvSpPr>
        <p:spPr>
          <a:xfrm>
            <a:off x="23349516" y="15319212"/>
            <a:ext cx="538020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Masque Circulaire</a:t>
            </a:r>
          </a:p>
        </p:txBody>
      </p:sp>
      <p:sp>
        <p:nvSpPr>
          <p:cNvPr id="134" name="Rectangle : coins arrondis 133">
            <a:extLst>
              <a:ext uri="{FF2B5EF4-FFF2-40B4-BE49-F238E27FC236}">
                <a16:creationId xmlns:a16="http://schemas.microsoft.com/office/drawing/2014/main" id="{ADF2E0E9-BC8D-3E2B-5C88-D80C547E36F2}"/>
              </a:ext>
            </a:extLst>
          </p:cNvPr>
          <p:cNvSpPr/>
          <p:nvPr/>
        </p:nvSpPr>
        <p:spPr>
          <a:xfrm>
            <a:off x="26493216" y="16312152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3 points</a:t>
            </a:r>
          </a:p>
        </p:txBody>
      </p:sp>
      <p:sp>
        <p:nvSpPr>
          <p:cNvPr id="135" name="Rectangle : coins arrondis 134">
            <a:extLst>
              <a:ext uri="{FF2B5EF4-FFF2-40B4-BE49-F238E27FC236}">
                <a16:creationId xmlns:a16="http://schemas.microsoft.com/office/drawing/2014/main" id="{B7D894BD-02BC-8863-3BD9-15A64C678A8F}"/>
              </a:ext>
            </a:extLst>
          </p:cNvPr>
          <p:cNvSpPr/>
          <p:nvPr/>
        </p:nvSpPr>
        <p:spPr>
          <a:xfrm>
            <a:off x="9589407" y="17009387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Calcul phase enroulée / Calcul phase déroulée</a:t>
            </a:r>
          </a:p>
        </p:txBody>
      </p:sp>
      <p:sp>
        <p:nvSpPr>
          <p:cNvPr id="136" name="Rectangle : coins arrondis 135">
            <a:extLst>
              <a:ext uri="{FF2B5EF4-FFF2-40B4-BE49-F238E27FC236}">
                <a16:creationId xmlns:a16="http://schemas.microsoft.com/office/drawing/2014/main" id="{F76E1C04-B242-6351-E486-24B5C2B9C63F}"/>
              </a:ext>
            </a:extLst>
          </p:cNvPr>
          <p:cNvSpPr/>
          <p:nvPr/>
        </p:nvSpPr>
        <p:spPr>
          <a:xfrm>
            <a:off x="20166875" y="16978820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chemeClr val="tx1"/>
                </a:solidFill>
                <a:latin typeface="Canva Sans Bold" panose="020B0604020202020204" charset="0"/>
              </a:rPr>
              <a:t>Analyse</a:t>
            </a:r>
          </a:p>
        </p:txBody>
      </p:sp>
      <p:sp>
        <p:nvSpPr>
          <p:cNvPr id="137" name="Rectangle : coins arrondis 136">
            <a:extLst>
              <a:ext uri="{FF2B5EF4-FFF2-40B4-BE49-F238E27FC236}">
                <a16:creationId xmlns:a16="http://schemas.microsoft.com/office/drawing/2014/main" id="{F50CFD6A-D9E1-C638-7B84-5C07BBC5B8E5}"/>
              </a:ext>
            </a:extLst>
          </p:cNvPr>
          <p:cNvSpPr/>
          <p:nvPr/>
        </p:nvSpPr>
        <p:spPr>
          <a:xfrm>
            <a:off x="23388456" y="17004412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Phase non déroulée</a:t>
            </a:r>
          </a:p>
        </p:txBody>
      </p:sp>
      <p:sp>
        <p:nvSpPr>
          <p:cNvPr id="138" name="Rectangle : coins arrondis 137">
            <a:extLst>
              <a:ext uri="{FF2B5EF4-FFF2-40B4-BE49-F238E27FC236}">
                <a16:creationId xmlns:a16="http://schemas.microsoft.com/office/drawing/2014/main" id="{A7E41C13-1993-9791-50C0-878DC8247533}"/>
              </a:ext>
            </a:extLst>
          </p:cNvPr>
          <p:cNvSpPr/>
          <p:nvPr/>
        </p:nvSpPr>
        <p:spPr>
          <a:xfrm>
            <a:off x="23388456" y="19119483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Correction Tilt</a:t>
            </a:r>
          </a:p>
        </p:txBody>
      </p:sp>
      <p:sp>
        <p:nvSpPr>
          <p:cNvPr id="139" name="Rectangle : coins arrondis 138">
            <a:extLst>
              <a:ext uri="{FF2B5EF4-FFF2-40B4-BE49-F238E27FC236}">
                <a16:creationId xmlns:a16="http://schemas.microsoft.com/office/drawing/2014/main" id="{AEE4C77B-36CD-830C-32FD-764E6B0477A6}"/>
              </a:ext>
            </a:extLst>
          </p:cNvPr>
          <p:cNvSpPr/>
          <p:nvPr/>
        </p:nvSpPr>
        <p:spPr>
          <a:xfrm>
            <a:off x="9591074" y="19118402"/>
            <a:ext cx="10135566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Affichage phase déroulée / Correction tilt</a:t>
            </a:r>
          </a:p>
        </p:txBody>
      </p:sp>
      <p:sp>
        <p:nvSpPr>
          <p:cNvPr id="140" name="Rectangle : coins arrondis 139">
            <a:extLst>
              <a:ext uri="{FF2B5EF4-FFF2-40B4-BE49-F238E27FC236}">
                <a16:creationId xmlns:a16="http://schemas.microsoft.com/office/drawing/2014/main" id="{7C8F5BD9-A828-7E25-9352-7D598426855D}"/>
              </a:ext>
            </a:extLst>
          </p:cNvPr>
          <p:cNvSpPr/>
          <p:nvPr/>
        </p:nvSpPr>
        <p:spPr>
          <a:xfrm>
            <a:off x="20166876" y="19141170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chemeClr val="tx1"/>
                </a:solidFill>
                <a:latin typeface="Canva Sans Bold" panose="020B0604020202020204" charset="0"/>
              </a:rPr>
              <a:t>Analyse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B69A155F-A6C2-998C-2216-9B0E4BDA8461}"/>
              </a:ext>
            </a:extLst>
          </p:cNvPr>
          <p:cNvSpPr txBox="1"/>
          <p:nvPr/>
        </p:nvSpPr>
        <p:spPr>
          <a:xfrm>
            <a:off x="23388456" y="17575340"/>
            <a:ext cx="5380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chemeClr val="tx1"/>
                </a:solidFill>
                <a:latin typeface="Canva Sans Bold" panose="020B0604020202020204" charset="0"/>
              </a:rPr>
              <a:t>étape optionnelle à but pédagogique</a:t>
            </a:r>
            <a:endParaRPr lang="fr-FR" sz="2400" dirty="0"/>
          </a:p>
        </p:txBody>
      </p:sp>
      <p:sp>
        <p:nvSpPr>
          <p:cNvPr id="148" name="Rectangle : coins arrondis 147">
            <a:extLst>
              <a:ext uri="{FF2B5EF4-FFF2-40B4-BE49-F238E27FC236}">
                <a16:creationId xmlns:a16="http://schemas.microsoft.com/office/drawing/2014/main" id="{D499D85A-1D98-ADFA-4E5D-28060EB7D868}"/>
              </a:ext>
            </a:extLst>
          </p:cNvPr>
          <p:cNvSpPr/>
          <p:nvPr/>
        </p:nvSpPr>
        <p:spPr>
          <a:xfrm>
            <a:off x="26532156" y="19706849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Canva Sans Bold" panose="020B0604020202020204" charset="0"/>
              </a:rPr>
              <a:t>Affichage 3D</a:t>
            </a:r>
          </a:p>
        </p:txBody>
      </p:sp>
      <p:pic>
        <p:nvPicPr>
          <p:cNvPr id="149" name="Picture 2">
            <a:extLst>
              <a:ext uri="{FF2B5EF4-FFF2-40B4-BE49-F238E27FC236}">
                <a16:creationId xmlns:a16="http://schemas.microsoft.com/office/drawing/2014/main" id="{987E3C8D-6299-1FCE-3F09-BEA26D518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900" y="999647"/>
            <a:ext cx="5944116" cy="244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76035DB-315C-3A5D-2A4C-0BF2EF679FD6}"/>
              </a:ext>
            </a:extLst>
          </p:cNvPr>
          <p:cNvSpPr/>
          <p:nvPr/>
        </p:nvSpPr>
        <p:spPr>
          <a:xfrm>
            <a:off x="3000374" y="10467938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Sauvegarde des images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08A17EA-65B0-2D9C-01B1-A8BADDF37293}"/>
              </a:ext>
            </a:extLst>
          </p:cNvPr>
          <p:cNvSpPr/>
          <p:nvPr/>
        </p:nvSpPr>
        <p:spPr>
          <a:xfrm>
            <a:off x="10903476" y="10416873"/>
            <a:ext cx="8821498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Fichiers PNG ou MAT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59D49FA-630A-F23E-5B8F-DB771848EEE3}"/>
              </a:ext>
            </a:extLst>
          </p:cNvPr>
          <p:cNvSpPr/>
          <p:nvPr/>
        </p:nvSpPr>
        <p:spPr>
          <a:xfrm>
            <a:off x="20166876" y="10386306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Images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327355E-F43C-D491-046C-02CB172FC121}"/>
              </a:ext>
            </a:extLst>
          </p:cNvPr>
          <p:cNvSpPr/>
          <p:nvPr/>
        </p:nvSpPr>
        <p:spPr>
          <a:xfrm>
            <a:off x="12420682" y="11488580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latin typeface="Canva Sans Bold" panose="020B0604020202020204" charset="0"/>
              </a:rPr>
              <a:t>PNG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DF31B03-6B04-7865-77F8-822F3EB22470}"/>
              </a:ext>
            </a:extLst>
          </p:cNvPr>
          <p:cNvSpPr txBox="1"/>
          <p:nvPr/>
        </p:nvSpPr>
        <p:spPr>
          <a:xfrm>
            <a:off x="14747237" y="11469069"/>
            <a:ext cx="10162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Canva Sans Bold" panose="020B0604020202020204" charset="0"/>
              </a:rPr>
              <a:t>Sauvegarde d’un interférogramme et de la grille des 5 images</a:t>
            </a:r>
            <a:endParaRPr lang="fr-FR" sz="2800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EA994AE-54D4-F868-3958-8A99161EEEF9}"/>
              </a:ext>
            </a:extLst>
          </p:cNvPr>
          <p:cNvSpPr/>
          <p:nvPr/>
        </p:nvSpPr>
        <p:spPr>
          <a:xfrm>
            <a:off x="12420682" y="12155371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latin typeface="Canva Sans Bold" panose="020B0604020202020204" charset="0"/>
              </a:rPr>
              <a:t>MAT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B9A6E7-8E92-63C3-4A09-9704063EF151}"/>
              </a:ext>
            </a:extLst>
          </p:cNvPr>
          <p:cNvSpPr txBox="1"/>
          <p:nvPr/>
        </p:nvSpPr>
        <p:spPr>
          <a:xfrm>
            <a:off x="14747237" y="12135860"/>
            <a:ext cx="10162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Canva Sans Bold" panose="020B0604020202020204" charset="0"/>
              </a:rPr>
              <a:t>Sauvegarde des images et des masques dans un fichier MAT</a:t>
            </a:r>
            <a:endParaRPr lang="fr-FR" sz="28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CE49F18-5283-999B-4297-0FAF1013A0AD}"/>
              </a:ext>
            </a:extLst>
          </p:cNvPr>
          <p:cNvSpPr txBox="1"/>
          <p:nvPr/>
        </p:nvSpPr>
        <p:spPr>
          <a:xfrm>
            <a:off x="24574500" y="11541303"/>
            <a:ext cx="3716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Canva Sans Bold" panose="020B0604020202020204" charset="0"/>
                <a:sym typeface="Wingdings" panose="05000000000000000000" pitchFamily="2" charset="2"/>
              </a:rPr>
              <a:t> </a:t>
            </a:r>
            <a:r>
              <a:rPr lang="fr-FR" sz="2800" dirty="0">
                <a:solidFill>
                  <a:schemeClr val="tx1"/>
                </a:solidFill>
                <a:latin typeface="Canva Sans Bold" panose="020B0604020202020204" charset="0"/>
              </a:rPr>
              <a:t>RAPPORT</a:t>
            </a:r>
            <a:endParaRPr lang="fr-FR" sz="28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3999EB5-23CF-1276-166B-8EB3904A549B}"/>
              </a:ext>
            </a:extLst>
          </p:cNvPr>
          <p:cNvSpPr txBox="1"/>
          <p:nvPr/>
        </p:nvSpPr>
        <p:spPr>
          <a:xfrm>
            <a:off x="24574500" y="12064523"/>
            <a:ext cx="3716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Canva Sans Bold" panose="020B0604020202020204" charset="0"/>
                <a:sym typeface="Wingdings" panose="05000000000000000000" pitchFamily="2" charset="2"/>
              </a:rPr>
              <a:t> </a:t>
            </a:r>
            <a:r>
              <a:rPr lang="fr-FR" sz="2800" dirty="0">
                <a:solidFill>
                  <a:schemeClr val="tx1"/>
                </a:solidFill>
                <a:latin typeface="Canva Sans Bold" panose="020B0604020202020204" charset="0"/>
              </a:rPr>
              <a:t>ANALYSE ULTERIEURE</a:t>
            </a:r>
            <a:endParaRPr lang="fr-FR" sz="28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E40BF20-8161-923D-B734-FB2AF7BC8571}"/>
              </a:ext>
            </a:extLst>
          </p:cNvPr>
          <p:cNvSpPr txBox="1"/>
          <p:nvPr/>
        </p:nvSpPr>
        <p:spPr>
          <a:xfrm>
            <a:off x="15046875" y="20329235"/>
            <a:ext cx="101621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Canva Sans Bold" panose="020B0604020202020204" charset="0"/>
              </a:rPr>
              <a:t>Sauvegarde des différentes vues</a:t>
            </a:r>
            <a:endParaRPr lang="fr-FR" sz="2800" dirty="0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C9F3DA5-8400-2755-1BD0-446BA46C139C}"/>
              </a:ext>
            </a:extLst>
          </p:cNvPr>
          <p:cNvSpPr/>
          <p:nvPr/>
        </p:nvSpPr>
        <p:spPr>
          <a:xfrm>
            <a:off x="12420682" y="20329235"/>
            <a:ext cx="2236508" cy="48419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  <a:latin typeface="Canva Sans Bold" panose="020B0604020202020204" charset="0"/>
              </a:rPr>
              <a:t>PNG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D16883D-AD57-8031-F5E7-062C8915556D}"/>
              </a:ext>
            </a:extLst>
          </p:cNvPr>
          <p:cNvSpPr txBox="1"/>
          <p:nvPr/>
        </p:nvSpPr>
        <p:spPr>
          <a:xfrm>
            <a:off x="21076013" y="20329235"/>
            <a:ext cx="3716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Canva Sans Bold" panose="020B0604020202020204" charset="0"/>
                <a:sym typeface="Wingdings" panose="05000000000000000000" pitchFamily="2" charset="2"/>
              </a:rPr>
              <a:t> </a:t>
            </a:r>
            <a:r>
              <a:rPr lang="fr-FR" sz="2800" dirty="0">
                <a:solidFill>
                  <a:schemeClr val="tx1"/>
                </a:solidFill>
                <a:latin typeface="Canva Sans Bold" panose="020B0604020202020204" charset="0"/>
              </a:rPr>
              <a:t>RAPPORT</a:t>
            </a:r>
            <a:endParaRPr lang="fr-FR" sz="2800" dirty="0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6A1708E3-8337-B115-6EDA-895B0BC398E9}"/>
              </a:ext>
            </a:extLst>
          </p:cNvPr>
          <p:cNvSpPr/>
          <p:nvPr/>
        </p:nvSpPr>
        <p:spPr>
          <a:xfrm>
            <a:off x="3000374" y="12796120"/>
            <a:ext cx="7337572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>
                <a:latin typeface="Canva Sans Bold" panose="020B0604020202020204" charset="0"/>
              </a:rPr>
              <a:t>Ouverture </a:t>
            </a:r>
            <a:r>
              <a:rPr lang="fr-FR" sz="4400" b="1" dirty="0">
                <a:latin typeface="Canva Sans Bold" panose="020B0604020202020204" charset="0"/>
              </a:rPr>
              <a:t>des images</a:t>
            </a: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60EC3D54-3016-BB61-302B-92637012059E}"/>
              </a:ext>
            </a:extLst>
          </p:cNvPr>
          <p:cNvGrpSpPr/>
          <p:nvPr/>
        </p:nvGrpSpPr>
        <p:grpSpPr>
          <a:xfrm rot="5400000">
            <a:off x="5104856" y="13691029"/>
            <a:ext cx="523220" cy="1920607"/>
            <a:chOff x="0" y="0"/>
            <a:chExt cx="406400" cy="406400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07C6E1DC-B1C3-02C7-7E24-2EFA31501104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3" name="TextBox 14">
              <a:extLst>
                <a:ext uri="{FF2B5EF4-FFF2-40B4-BE49-F238E27FC236}">
                  <a16:creationId xmlns:a16="http://schemas.microsoft.com/office/drawing/2014/main" id="{A61EDBB4-C714-365B-69AB-C250DBE0DA30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0AA5D2C-79EB-ACE3-AADC-855586E4E02E}"/>
              </a:ext>
            </a:extLst>
          </p:cNvPr>
          <p:cNvSpPr/>
          <p:nvPr/>
        </p:nvSpPr>
        <p:spPr>
          <a:xfrm>
            <a:off x="10903476" y="12796120"/>
            <a:ext cx="8821498" cy="9052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Fichiers MAT contenant des données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F4DF35B-0A91-0367-99D3-0B8349585A1C}"/>
              </a:ext>
            </a:extLst>
          </p:cNvPr>
          <p:cNvSpPr/>
          <p:nvPr/>
        </p:nvSpPr>
        <p:spPr>
          <a:xfrm>
            <a:off x="20166875" y="12854041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Images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51C76DD-997F-B249-2B91-5B2E280BEA1A}"/>
              </a:ext>
            </a:extLst>
          </p:cNvPr>
          <p:cNvSpPr/>
          <p:nvPr/>
        </p:nvSpPr>
        <p:spPr>
          <a:xfrm>
            <a:off x="23388456" y="10379323"/>
            <a:ext cx="538020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Sauvegarde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0B0253D-C427-F2D1-2D5E-C79CA19F4743}"/>
              </a:ext>
            </a:extLst>
          </p:cNvPr>
          <p:cNvSpPr/>
          <p:nvPr/>
        </p:nvSpPr>
        <p:spPr>
          <a:xfrm>
            <a:off x="23388456" y="12847058"/>
            <a:ext cx="5380208" cy="9052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Ouverture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EF19C79-4D31-D797-AFDD-7073AD20698A}"/>
              </a:ext>
            </a:extLst>
          </p:cNvPr>
          <p:cNvSpPr txBox="1"/>
          <p:nvPr/>
        </p:nvSpPr>
        <p:spPr>
          <a:xfrm>
            <a:off x="11659471" y="13832143"/>
            <a:ext cx="101621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Canva Sans Bold" panose="020B0604020202020204" charset="0"/>
              </a:rPr>
              <a:t>Utilisation d’images enregistrées à l’aide du ZYGO en TP</a:t>
            </a:r>
            <a:br>
              <a:rPr lang="fr-FR" sz="2800" dirty="0">
                <a:solidFill>
                  <a:schemeClr val="tx1"/>
                </a:solidFill>
                <a:latin typeface="Canva Sans Bold" panose="020B0604020202020204" charset="0"/>
              </a:rPr>
            </a:br>
            <a:r>
              <a:rPr lang="fr-FR" sz="2800" dirty="0">
                <a:solidFill>
                  <a:schemeClr val="tx1"/>
                </a:solidFill>
                <a:latin typeface="Canva Sans Bold" panose="020B0604020202020204" charset="0"/>
              </a:rPr>
              <a:t>Réouverture possible même sans matériel (caméra, </a:t>
            </a:r>
            <a:r>
              <a:rPr lang="fr-FR" sz="2800" dirty="0" err="1">
                <a:solidFill>
                  <a:schemeClr val="tx1"/>
                </a:solidFill>
                <a:latin typeface="Canva Sans Bold" panose="020B0604020202020204" charset="0"/>
              </a:rPr>
              <a:t>piézo</a:t>
            </a:r>
            <a:r>
              <a:rPr lang="fr-FR" sz="2800" dirty="0">
                <a:latin typeface="Canva Sans Bold" panose="020B0604020202020204" charset="0"/>
              </a:rPr>
              <a:t>…)</a:t>
            </a:r>
            <a:endParaRPr lang="fr-FR" sz="28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A2CDF1A-5220-3251-AD21-12CC2612B343}"/>
              </a:ext>
            </a:extLst>
          </p:cNvPr>
          <p:cNvSpPr txBox="1"/>
          <p:nvPr/>
        </p:nvSpPr>
        <p:spPr>
          <a:xfrm>
            <a:off x="3000374" y="11478236"/>
            <a:ext cx="2236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chemeClr val="bg1">
                    <a:lumMod val="50000"/>
                  </a:schemeClr>
                </a:solidFill>
                <a:latin typeface="Canva Sans Bold" panose="020B0604020202020204" charset="0"/>
              </a:rPr>
              <a:t>* optionnel</a:t>
            </a: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E7347E1-8AD3-7CE7-BEF9-57AEEF575FF5}"/>
              </a:ext>
            </a:extLst>
          </p:cNvPr>
          <p:cNvSpPr txBox="1"/>
          <p:nvPr/>
        </p:nvSpPr>
        <p:spPr>
          <a:xfrm>
            <a:off x="3039930" y="13687850"/>
            <a:ext cx="2236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solidFill>
                  <a:schemeClr val="bg1">
                    <a:lumMod val="50000"/>
                  </a:schemeClr>
                </a:solidFill>
                <a:latin typeface="Canva Sans Bold" panose="020B0604020202020204" charset="0"/>
              </a:rPr>
              <a:t>* optionnel</a:t>
            </a:r>
            <a:endParaRPr lang="fr-FR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735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CD76-E2DB-C534-5DC5-FEA0666BB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141CBAE9-87DE-CAE4-9749-33D2869563D6}"/>
              </a:ext>
            </a:extLst>
          </p:cNvPr>
          <p:cNvSpPr/>
          <p:nvPr/>
        </p:nvSpPr>
        <p:spPr>
          <a:xfrm>
            <a:off x="1656226" y="6186029"/>
            <a:ext cx="5173199" cy="859697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surface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1F6D7E39-F872-2B14-15A3-B0BE0D60A7D2}"/>
              </a:ext>
            </a:extLst>
          </p:cNvPr>
          <p:cNvSpPr txBox="1"/>
          <p:nvPr/>
        </p:nvSpPr>
        <p:spPr>
          <a:xfrm>
            <a:off x="7601809" y="975392"/>
            <a:ext cx="20597107" cy="1785219"/>
          </a:xfrm>
          <a:prstGeom prst="rect">
            <a:avLst/>
          </a:prstGeom>
          <a:noFill/>
        </p:spPr>
        <p:txBody>
          <a:bodyPr wrap="square" lIns="304910" tIns="152457" rIns="304910" bIns="152457" rtlCol="0">
            <a:spAutoFit/>
          </a:bodyPr>
          <a:lstStyle/>
          <a:p>
            <a:pPr algn="ctr"/>
            <a:r>
              <a:rPr lang="fr-FR" sz="9600" dirty="0">
                <a:solidFill>
                  <a:srgbClr val="0A3250"/>
                </a:solidFill>
                <a:latin typeface="Interstate-RegularCondensed"/>
                <a:cs typeface="Interstate-RegularCondensed"/>
              </a:rPr>
              <a:t>Interféromètre ZYGO</a:t>
            </a:r>
          </a:p>
        </p:txBody>
      </p:sp>
      <p:sp>
        <p:nvSpPr>
          <p:cNvPr id="80" name="AutoShape 2">
            <a:extLst>
              <a:ext uri="{FF2B5EF4-FFF2-40B4-BE49-F238E27FC236}">
                <a16:creationId xmlns:a16="http://schemas.microsoft.com/office/drawing/2014/main" id="{9E6FAFA9-A370-BE31-E5FF-3097DE66EA35}"/>
              </a:ext>
            </a:extLst>
          </p:cNvPr>
          <p:cNvSpPr/>
          <p:nvPr/>
        </p:nvSpPr>
        <p:spPr>
          <a:xfrm flipV="1">
            <a:off x="795896" y="4018172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Box 55">
            <a:extLst>
              <a:ext uri="{FF2B5EF4-FFF2-40B4-BE49-F238E27FC236}">
                <a16:creationId xmlns:a16="http://schemas.microsoft.com/office/drawing/2014/main" id="{25D69856-70CA-9DE8-3274-225C758A6F56}"/>
              </a:ext>
            </a:extLst>
          </p:cNvPr>
          <p:cNvSpPr txBox="1"/>
          <p:nvPr/>
        </p:nvSpPr>
        <p:spPr>
          <a:xfrm>
            <a:off x="11340463" y="3244219"/>
            <a:ext cx="13568893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2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FF91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Contrôles interférométriques / Aberrations</a:t>
            </a:r>
          </a:p>
        </p:txBody>
      </p:sp>
      <p:sp>
        <p:nvSpPr>
          <p:cNvPr id="82" name="Rectangle : coins arrondis 81">
            <a:extLst>
              <a:ext uri="{FF2B5EF4-FFF2-40B4-BE49-F238E27FC236}">
                <a16:creationId xmlns:a16="http://schemas.microsoft.com/office/drawing/2014/main" id="{28F880D5-9780-E178-5267-87049ED2CFAB}"/>
              </a:ext>
            </a:extLst>
          </p:cNvPr>
          <p:cNvSpPr/>
          <p:nvPr/>
        </p:nvSpPr>
        <p:spPr>
          <a:xfrm>
            <a:off x="12952084" y="5063898"/>
            <a:ext cx="5172825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Acquisition images</a:t>
            </a:r>
          </a:p>
        </p:txBody>
      </p:sp>
      <p:sp>
        <p:nvSpPr>
          <p:cNvPr id="83" name="Rectangle : coins arrondis 82">
            <a:extLst>
              <a:ext uri="{FF2B5EF4-FFF2-40B4-BE49-F238E27FC236}">
                <a16:creationId xmlns:a16="http://schemas.microsoft.com/office/drawing/2014/main" id="{598A2303-AC6E-EE2D-5AD6-818C9DE2F84E}"/>
              </a:ext>
            </a:extLst>
          </p:cNvPr>
          <p:cNvSpPr/>
          <p:nvPr/>
        </p:nvSpPr>
        <p:spPr>
          <a:xfrm>
            <a:off x="24323770" y="5063898"/>
            <a:ext cx="5218098" cy="911659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Traitement phase</a:t>
            </a:r>
          </a:p>
        </p:txBody>
      </p:sp>
      <p:sp>
        <p:nvSpPr>
          <p:cNvPr id="88" name="Rectangle : coins arrondis 87">
            <a:extLst>
              <a:ext uri="{FF2B5EF4-FFF2-40B4-BE49-F238E27FC236}">
                <a16:creationId xmlns:a16="http://schemas.microsoft.com/office/drawing/2014/main" id="{CB4BC4AB-8DFE-232D-9678-F479FF93ADA8}"/>
              </a:ext>
            </a:extLst>
          </p:cNvPr>
          <p:cNvSpPr/>
          <p:nvPr/>
        </p:nvSpPr>
        <p:spPr>
          <a:xfrm>
            <a:off x="1552333" y="9427928"/>
            <a:ext cx="7337572" cy="859697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Analyse des aberrations</a:t>
            </a:r>
          </a:p>
        </p:txBody>
      </p:sp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601AAF91-636E-0C40-BF73-9A4DB51659CD}"/>
              </a:ext>
            </a:extLst>
          </p:cNvPr>
          <p:cNvSpPr/>
          <p:nvPr/>
        </p:nvSpPr>
        <p:spPr>
          <a:xfrm>
            <a:off x="10504247" y="9427928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Coefficients Zernike</a:t>
            </a:r>
          </a:p>
        </p:txBody>
      </p:sp>
      <p:sp>
        <p:nvSpPr>
          <p:cNvPr id="90" name="Rectangle : coins arrondis 89">
            <a:extLst>
              <a:ext uri="{FF2B5EF4-FFF2-40B4-BE49-F238E27FC236}">
                <a16:creationId xmlns:a16="http://schemas.microsoft.com/office/drawing/2014/main" id="{3C3F739E-9297-8535-B8EE-A56941234157}"/>
              </a:ext>
            </a:extLst>
          </p:cNvPr>
          <p:cNvSpPr/>
          <p:nvPr/>
        </p:nvSpPr>
        <p:spPr>
          <a:xfrm>
            <a:off x="10504245" y="10140074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Affichage front corrigé</a:t>
            </a:r>
          </a:p>
        </p:txBody>
      </p:sp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28DE6FFA-DCEE-862C-819F-5EBAB27BF9EC}"/>
              </a:ext>
            </a:extLst>
          </p:cNvPr>
          <p:cNvSpPr/>
          <p:nvPr/>
        </p:nvSpPr>
        <p:spPr>
          <a:xfrm>
            <a:off x="10598181" y="10999346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de la PSF</a:t>
            </a:r>
          </a:p>
        </p:txBody>
      </p:sp>
      <p:sp>
        <p:nvSpPr>
          <p:cNvPr id="92" name="Rectangle : coins arrondis 91">
            <a:extLst>
              <a:ext uri="{FF2B5EF4-FFF2-40B4-BE49-F238E27FC236}">
                <a16:creationId xmlns:a16="http://schemas.microsoft.com/office/drawing/2014/main" id="{08BA9690-ACD6-9E37-C568-566683436A62}"/>
              </a:ext>
            </a:extLst>
          </p:cNvPr>
          <p:cNvSpPr/>
          <p:nvPr/>
        </p:nvSpPr>
        <p:spPr>
          <a:xfrm>
            <a:off x="10598178" y="11765416"/>
            <a:ext cx="6980001" cy="610004"/>
          </a:xfrm>
          <a:prstGeom prst="roundRect">
            <a:avLst/>
          </a:prstGeom>
          <a:solidFill>
            <a:srgbClr val="B0B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Canva Sans Bold" panose="020B0604020202020204" charset="0"/>
              </a:rPr>
              <a:t>Calcul de la FTM</a:t>
            </a:r>
          </a:p>
        </p:txBody>
      </p:sp>
      <p:grpSp>
        <p:nvGrpSpPr>
          <p:cNvPr id="93" name="Group 12">
            <a:extLst>
              <a:ext uri="{FF2B5EF4-FFF2-40B4-BE49-F238E27FC236}">
                <a16:creationId xmlns:a16="http://schemas.microsoft.com/office/drawing/2014/main" id="{32AB109E-990B-6149-4C46-27AC031FDD61}"/>
              </a:ext>
            </a:extLst>
          </p:cNvPr>
          <p:cNvGrpSpPr/>
          <p:nvPr/>
        </p:nvGrpSpPr>
        <p:grpSpPr>
          <a:xfrm>
            <a:off x="9596165" y="9463977"/>
            <a:ext cx="662841" cy="1231107"/>
            <a:chOff x="0" y="0"/>
            <a:chExt cx="406400" cy="406400"/>
          </a:xfrm>
        </p:grpSpPr>
        <p:sp>
          <p:nvSpPr>
            <p:cNvPr id="94" name="Freeform 13">
              <a:extLst>
                <a:ext uri="{FF2B5EF4-FFF2-40B4-BE49-F238E27FC236}">
                  <a16:creationId xmlns:a16="http://schemas.microsoft.com/office/drawing/2014/main" id="{A8EF2051-AFCF-24FD-6324-C881AAB170DC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5" name="TextBox 14">
              <a:extLst>
                <a:ext uri="{FF2B5EF4-FFF2-40B4-BE49-F238E27FC236}">
                  <a16:creationId xmlns:a16="http://schemas.microsoft.com/office/drawing/2014/main" id="{19D6D30E-40BD-5AA5-2E3D-9C7BD367BF5C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6" name="Group 12">
            <a:extLst>
              <a:ext uri="{FF2B5EF4-FFF2-40B4-BE49-F238E27FC236}">
                <a16:creationId xmlns:a16="http://schemas.microsoft.com/office/drawing/2014/main" id="{4A8B2E2E-A27B-2F17-7139-1F1DBC0B6820}"/>
              </a:ext>
            </a:extLst>
          </p:cNvPr>
          <p:cNvGrpSpPr/>
          <p:nvPr/>
        </p:nvGrpSpPr>
        <p:grpSpPr>
          <a:xfrm>
            <a:off x="9648671" y="11024628"/>
            <a:ext cx="662841" cy="1231107"/>
            <a:chOff x="0" y="0"/>
            <a:chExt cx="406400" cy="406400"/>
          </a:xfrm>
        </p:grpSpPr>
        <p:sp>
          <p:nvSpPr>
            <p:cNvPr id="97" name="Freeform 13">
              <a:extLst>
                <a:ext uri="{FF2B5EF4-FFF2-40B4-BE49-F238E27FC236}">
                  <a16:creationId xmlns:a16="http://schemas.microsoft.com/office/drawing/2014/main" id="{7089C1CC-4AD4-99B3-D68E-C881EE47514D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TextBox 14">
              <a:extLst>
                <a:ext uri="{FF2B5EF4-FFF2-40B4-BE49-F238E27FC236}">
                  <a16:creationId xmlns:a16="http://schemas.microsoft.com/office/drawing/2014/main" id="{C4D436D4-9640-9B00-1610-A3559FAA1F4F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02" name="Rectangle : coins arrondis 101">
            <a:extLst>
              <a:ext uri="{FF2B5EF4-FFF2-40B4-BE49-F238E27FC236}">
                <a16:creationId xmlns:a16="http://schemas.microsoft.com/office/drawing/2014/main" id="{FDDEDDAC-B7A3-1B46-8493-88C4D6085481}"/>
              </a:ext>
            </a:extLst>
          </p:cNvPr>
          <p:cNvSpPr/>
          <p:nvPr/>
        </p:nvSpPr>
        <p:spPr>
          <a:xfrm>
            <a:off x="1656226" y="5063898"/>
            <a:ext cx="5173199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Alignement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FF223FEE-6BF6-E1D1-C882-0DF25549A167}"/>
              </a:ext>
            </a:extLst>
          </p:cNvPr>
          <p:cNvSpPr txBox="1"/>
          <p:nvPr/>
        </p:nvSpPr>
        <p:spPr>
          <a:xfrm>
            <a:off x="1656226" y="4121641"/>
            <a:ext cx="7337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Etapes / TP 1A et 2A</a:t>
            </a:r>
            <a:endParaRPr lang="fr-FR" sz="4800" dirty="0"/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87DE14D0-7278-3953-9694-FA58B14B60CA}"/>
              </a:ext>
            </a:extLst>
          </p:cNvPr>
          <p:cNvSpPr txBox="1"/>
          <p:nvPr/>
        </p:nvSpPr>
        <p:spPr>
          <a:xfrm>
            <a:off x="21821590" y="7306597"/>
            <a:ext cx="65300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Interface / Mode</a:t>
            </a:r>
            <a:endParaRPr lang="fr-FR" sz="4800" dirty="0"/>
          </a:p>
        </p:txBody>
      </p:sp>
      <p:sp>
        <p:nvSpPr>
          <p:cNvPr id="116" name="Rectangle : coins arrondis 115">
            <a:extLst>
              <a:ext uri="{FF2B5EF4-FFF2-40B4-BE49-F238E27FC236}">
                <a16:creationId xmlns:a16="http://schemas.microsoft.com/office/drawing/2014/main" id="{5B9F56E0-8B51-5987-BA37-40F3BFDFB045}"/>
              </a:ext>
            </a:extLst>
          </p:cNvPr>
          <p:cNvSpPr/>
          <p:nvPr/>
        </p:nvSpPr>
        <p:spPr>
          <a:xfrm>
            <a:off x="7301395" y="5063898"/>
            <a:ext cx="5169525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Paramétrage caméra</a:t>
            </a:r>
          </a:p>
        </p:txBody>
      </p:sp>
      <p:sp>
        <p:nvSpPr>
          <p:cNvPr id="125" name="Rectangle : coins arrondis 124">
            <a:extLst>
              <a:ext uri="{FF2B5EF4-FFF2-40B4-BE49-F238E27FC236}">
                <a16:creationId xmlns:a16="http://schemas.microsoft.com/office/drawing/2014/main" id="{98AD813D-0713-80EF-7CC4-F74B24B20AEC}"/>
              </a:ext>
            </a:extLst>
          </p:cNvPr>
          <p:cNvSpPr/>
          <p:nvPr/>
        </p:nvSpPr>
        <p:spPr>
          <a:xfrm>
            <a:off x="18606073" y="5063898"/>
            <a:ext cx="5218098" cy="905234"/>
          </a:xfrm>
          <a:prstGeom prst="roundRect">
            <a:avLst/>
          </a:prstGeom>
          <a:solidFill>
            <a:srgbClr val="809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latin typeface="Canva Sans Bold" panose="020B0604020202020204" charset="0"/>
              </a:rPr>
              <a:t>Ajout masques</a:t>
            </a:r>
          </a:p>
        </p:txBody>
      </p:sp>
      <p:sp>
        <p:nvSpPr>
          <p:cNvPr id="141" name="Rectangle : coins arrondis 140">
            <a:extLst>
              <a:ext uri="{FF2B5EF4-FFF2-40B4-BE49-F238E27FC236}">
                <a16:creationId xmlns:a16="http://schemas.microsoft.com/office/drawing/2014/main" id="{E3AFEED4-7D8C-D75F-1653-DC99B899EAE5}"/>
              </a:ext>
            </a:extLst>
          </p:cNvPr>
          <p:cNvSpPr/>
          <p:nvPr/>
        </p:nvSpPr>
        <p:spPr>
          <a:xfrm>
            <a:off x="20107882" y="9382391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Aberrations</a:t>
            </a:r>
          </a:p>
        </p:txBody>
      </p:sp>
      <p:sp>
        <p:nvSpPr>
          <p:cNvPr id="142" name="Rectangle : coins arrondis 141">
            <a:extLst>
              <a:ext uri="{FF2B5EF4-FFF2-40B4-BE49-F238E27FC236}">
                <a16:creationId xmlns:a16="http://schemas.microsoft.com/office/drawing/2014/main" id="{0142211F-867A-5361-E550-16782EF752DE}"/>
              </a:ext>
            </a:extLst>
          </p:cNvPr>
          <p:cNvSpPr/>
          <p:nvPr/>
        </p:nvSpPr>
        <p:spPr>
          <a:xfrm>
            <a:off x="23329462" y="9373580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Coefficients Zernike</a:t>
            </a:r>
          </a:p>
        </p:txBody>
      </p:sp>
      <p:sp>
        <p:nvSpPr>
          <p:cNvPr id="143" name="Rectangle : coins arrondis 142">
            <a:extLst>
              <a:ext uri="{FF2B5EF4-FFF2-40B4-BE49-F238E27FC236}">
                <a16:creationId xmlns:a16="http://schemas.microsoft.com/office/drawing/2014/main" id="{E507AC73-EA0F-8EAB-A203-0763FFE8F73C}"/>
              </a:ext>
            </a:extLst>
          </p:cNvPr>
          <p:cNvSpPr/>
          <p:nvPr/>
        </p:nvSpPr>
        <p:spPr>
          <a:xfrm>
            <a:off x="23329462" y="10002983"/>
            <a:ext cx="5380208" cy="484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Correction Phase</a:t>
            </a:r>
          </a:p>
        </p:txBody>
      </p:sp>
      <p:sp>
        <p:nvSpPr>
          <p:cNvPr id="144" name="Rectangle : coins arrondis 143">
            <a:extLst>
              <a:ext uri="{FF2B5EF4-FFF2-40B4-BE49-F238E27FC236}">
                <a16:creationId xmlns:a16="http://schemas.microsoft.com/office/drawing/2014/main" id="{BBAC2755-408C-692F-90A0-1880B6A69C90}"/>
              </a:ext>
            </a:extLst>
          </p:cNvPr>
          <p:cNvSpPr/>
          <p:nvPr/>
        </p:nvSpPr>
        <p:spPr>
          <a:xfrm>
            <a:off x="20107882" y="10909212"/>
            <a:ext cx="2963338" cy="9052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  <a:latin typeface="Canva Sans Bold" panose="020B0604020202020204" charset="0"/>
              </a:rPr>
              <a:t>Traitements</a:t>
            </a:r>
          </a:p>
        </p:txBody>
      </p:sp>
      <p:sp>
        <p:nvSpPr>
          <p:cNvPr id="146" name="AutoShape 2">
            <a:extLst>
              <a:ext uri="{FF2B5EF4-FFF2-40B4-BE49-F238E27FC236}">
                <a16:creationId xmlns:a16="http://schemas.microsoft.com/office/drawing/2014/main" id="{A410C29B-6801-BFEA-D930-1131E2B558D6}"/>
              </a:ext>
            </a:extLst>
          </p:cNvPr>
          <p:cNvSpPr/>
          <p:nvPr/>
        </p:nvSpPr>
        <p:spPr>
          <a:xfrm flipV="1">
            <a:off x="760651" y="8379393"/>
            <a:ext cx="28745972" cy="0"/>
          </a:xfrm>
          <a:prstGeom prst="line">
            <a:avLst/>
          </a:prstGeom>
          <a:ln w="114300" cap="flat">
            <a:solidFill>
              <a:srgbClr val="FF914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2989758C-F2C0-EC8C-3169-D2019B8A2436}"/>
              </a:ext>
            </a:extLst>
          </p:cNvPr>
          <p:cNvSpPr txBox="1"/>
          <p:nvPr/>
        </p:nvSpPr>
        <p:spPr>
          <a:xfrm>
            <a:off x="1477033" y="8454445"/>
            <a:ext cx="7337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latin typeface="Canva Sans Bold" panose="020B0604020202020204" charset="0"/>
              </a:rPr>
              <a:t>TP 2A</a:t>
            </a:r>
            <a:endParaRPr lang="fr-FR" sz="4800" dirty="0"/>
          </a:p>
        </p:txBody>
      </p:sp>
      <p:pic>
        <p:nvPicPr>
          <p:cNvPr id="149" name="Picture 2">
            <a:extLst>
              <a:ext uri="{FF2B5EF4-FFF2-40B4-BE49-F238E27FC236}">
                <a16:creationId xmlns:a16="http://schemas.microsoft.com/office/drawing/2014/main" id="{5BD1B6A8-DCB2-AF3E-A548-23B4CEB4B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900" y="999647"/>
            <a:ext cx="5944116" cy="244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2">
            <a:extLst>
              <a:ext uri="{FF2B5EF4-FFF2-40B4-BE49-F238E27FC236}">
                <a16:creationId xmlns:a16="http://schemas.microsoft.com/office/drawing/2014/main" id="{F0034250-8C6D-79EC-CE9D-2F3ACB663C8E}"/>
              </a:ext>
            </a:extLst>
          </p:cNvPr>
          <p:cNvGrpSpPr/>
          <p:nvPr/>
        </p:nvGrpSpPr>
        <p:grpSpPr>
          <a:xfrm rot="5400000">
            <a:off x="5063401" y="6770327"/>
            <a:ext cx="523220" cy="1920607"/>
            <a:chOff x="0" y="0"/>
            <a:chExt cx="406400" cy="406400"/>
          </a:xfrm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B46F78DB-ABBE-3E84-7682-A2AD1796EACB}"/>
                </a:ext>
              </a:extLst>
            </p:cNvPr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2032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889">
                <a:alpha val="69804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" name="TextBox 14">
              <a:extLst>
                <a:ext uri="{FF2B5EF4-FFF2-40B4-BE49-F238E27FC236}">
                  <a16:creationId xmlns:a16="http://schemas.microsoft.com/office/drawing/2014/main" id="{06063228-393F-6A46-F035-A4B0EB3A3C7A}"/>
                </a:ext>
              </a:extLst>
            </p:cNvPr>
            <p:cNvSpPr txBox="1"/>
            <p:nvPr/>
          </p:nvSpPr>
          <p:spPr>
            <a:xfrm>
              <a:off x="177800" y="-38100"/>
              <a:ext cx="1524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667061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232</Words>
  <Application>Microsoft Office PowerPoint</Application>
  <PresentationFormat>Personnalisé</PresentationFormat>
  <Paragraphs>78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Canva Sans Bold</vt:lpstr>
      <vt:lpstr>Interstate-RegularCondensed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VILLEMEJANE</dc:creator>
  <cp:lastModifiedBy>Julien VILLEMEJANE</cp:lastModifiedBy>
  <cp:revision>21</cp:revision>
  <dcterms:created xsi:type="dcterms:W3CDTF">2025-07-16T06:37:00Z</dcterms:created>
  <dcterms:modified xsi:type="dcterms:W3CDTF">2026-06-03T06:16:51Z</dcterms:modified>
</cp:coreProperties>
</file>